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501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1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BDEF-D2DC-48F3-9A9A-009C0DE03FA0}" type="datetimeFigureOut">
              <a:rPr kumimoji="1" lang="ja-JP" altLang="en-US" smtClean="0"/>
              <a:t>2020/7/24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BEE1-9368-4A2A-82D7-D87D913C33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4923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BDEF-D2DC-48F3-9A9A-009C0DE03FA0}" type="datetimeFigureOut">
              <a:rPr kumimoji="1" lang="ja-JP" altLang="en-US" smtClean="0"/>
              <a:t>2020/7/24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BEE1-9368-4A2A-82D7-D87D913C33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6507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BDEF-D2DC-48F3-9A9A-009C0DE03FA0}" type="datetimeFigureOut">
              <a:rPr kumimoji="1" lang="ja-JP" altLang="en-US" smtClean="0"/>
              <a:t>2020/7/24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BEE1-9368-4A2A-82D7-D87D913C33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8495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BDEF-D2DC-48F3-9A9A-009C0DE03FA0}" type="datetimeFigureOut">
              <a:rPr kumimoji="1" lang="ja-JP" altLang="en-US" smtClean="0"/>
              <a:t>2020/7/24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BEE1-9368-4A2A-82D7-D87D913C33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0744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BDEF-D2DC-48F3-9A9A-009C0DE03FA0}" type="datetimeFigureOut">
              <a:rPr kumimoji="1" lang="ja-JP" altLang="en-US" smtClean="0"/>
              <a:t>2020/7/24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BEE1-9368-4A2A-82D7-D87D913C33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390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BDEF-D2DC-48F3-9A9A-009C0DE03FA0}" type="datetimeFigureOut">
              <a:rPr kumimoji="1" lang="ja-JP" altLang="en-US" smtClean="0"/>
              <a:t>2020/7/24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BEE1-9368-4A2A-82D7-D87D913C33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2767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BDEF-D2DC-48F3-9A9A-009C0DE03FA0}" type="datetimeFigureOut">
              <a:rPr kumimoji="1" lang="ja-JP" altLang="en-US" smtClean="0"/>
              <a:t>2020/7/24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BEE1-9368-4A2A-82D7-D87D913C33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8751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BDEF-D2DC-48F3-9A9A-009C0DE03FA0}" type="datetimeFigureOut">
              <a:rPr kumimoji="1" lang="ja-JP" altLang="en-US" smtClean="0"/>
              <a:t>2020/7/24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BEE1-9368-4A2A-82D7-D87D913C33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2128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BDEF-D2DC-48F3-9A9A-009C0DE03FA0}" type="datetimeFigureOut">
              <a:rPr kumimoji="1" lang="ja-JP" altLang="en-US" smtClean="0"/>
              <a:t>2020/7/24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BEE1-9368-4A2A-82D7-D87D913C33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1396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BDEF-D2DC-48F3-9A9A-009C0DE03FA0}" type="datetimeFigureOut">
              <a:rPr kumimoji="1" lang="ja-JP" altLang="en-US" smtClean="0"/>
              <a:t>2020/7/24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BEE1-9368-4A2A-82D7-D87D913C33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0427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BDEF-D2DC-48F3-9A9A-009C0DE03FA0}" type="datetimeFigureOut">
              <a:rPr kumimoji="1" lang="ja-JP" altLang="en-US" smtClean="0"/>
              <a:t>2020/7/24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BEE1-9368-4A2A-82D7-D87D913C33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208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3BDEF-D2DC-48F3-9A9A-009C0DE03FA0}" type="datetimeFigureOut">
              <a:rPr kumimoji="1" lang="ja-JP" altLang="en-US" smtClean="0"/>
              <a:t>2020/7/24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4BEE1-9368-4A2A-82D7-D87D913C33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3339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160040" y="2423959"/>
            <a:ext cx="2315688" cy="399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/>
              <a:t>ユーザ鍵</a:t>
            </a:r>
            <a:r>
              <a:rPr lang="en-US" altLang="ja-JP" dirty="0" smtClean="0"/>
              <a:t>(</a:t>
            </a:r>
            <a:r>
              <a:rPr lang="ja-JP" altLang="en-US" dirty="0" smtClean="0"/>
              <a:t>平文</a:t>
            </a:r>
            <a:r>
              <a:rPr lang="en-US" altLang="ja-JP" dirty="0" smtClean="0"/>
              <a:t>)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/>
        </p:nvSpPr>
        <p:spPr>
          <a:xfrm>
            <a:off x="2978728" y="2670174"/>
            <a:ext cx="2619375" cy="39947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/>
              <a:t>暗号化</a:t>
            </a:r>
            <a:r>
              <a:rPr lang="en-US" altLang="ja-JP" dirty="0" smtClean="0"/>
              <a:t>/MAC</a:t>
            </a:r>
            <a:r>
              <a:rPr lang="ja-JP" altLang="en-US" dirty="0" smtClean="0"/>
              <a:t>付与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/>
        </p:nvSpPr>
        <p:spPr>
          <a:xfrm>
            <a:off x="2978728" y="1962834"/>
            <a:ext cx="2619375" cy="399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/>
              <a:t>プロビジョニング鍵</a:t>
            </a:r>
            <a:r>
              <a:rPr lang="en-US" altLang="ja-JP" dirty="0" smtClean="0"/>
              <a:t>(</a:t>
            </a:r>
            <a:r>
              <a:rPr lang="ja-JP" altLang="en-US" dirty="0" smtClean="0"/>
              <a:t>平文</a:t>
            </a:r>
            <a:r>
              <a:rPr lang="en-US" altLang="ja-JP" dirty="0" smtClean="0"/>
              <a:t>)</a:t>
            </a:r>
            <a:endParaRPr kumimoji="1" lang="ja-JP" altLang="en-US" dirty="0"/>
          </a:p>
        </p:txBody>
      </p:sp>
      <p:cxnSp>
        <p:nvCxnSpPr>
          <p:cNvPr id="13" name="直線矢印コネクタ 12"/>
          <p:cNvCxnSpPr>
            <a:stCxn id="12" idx="2"/>
            <a:endCxn id="6" idx="0"/>
          </p:cNvCxnSpPr>
          <p:nvPr/>
        </p:nvCxnSpPr>
        <p:spPr>
          <a:xfrm>
            <a:off x="4288416" y="2362307"/>
            <a:ext cx="0" cy="307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/>
          <p:cNvCxnSpPr>
            <a:stCxn id="6" idx="3"/>
            <a:endCxn id="19" idx="1"/>
          </p:cNvCxnSpPr>
          <p:nvPr/>
        </p:nvCxnSpPr>
        <p:spPr>
          <a:xfrm flipV="1">
            <a:off x="5598103" y="2869910"/>
            <a:ext cx="4751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/>
          <p:cNvSpPr/>
          <p:nvPr/>
        </p:nvSpPr>
        <p:spPr>
          <a:xfrm>
            <a:off x="6073240" y="2670173"/>
            <a:ext cx="2315688" cy="399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/>
              <a:t>ユーザ鍵</a:t>
            </a:r>
            <a:r>
              <a:rPr lang="en-US" altLang="ja-JP" dirty="0" smtClean="0"/>
              <a:t>(</a:t>
            </a:r>
            <a:r>
              <a:rPr lang="ja-JP" altLang="en-US" dirty="0" smtClean="0"/>
              <a:t>暗号文</a:t>
            </a:r>
            <a:r>
              <a:rPr lang="en-US" altLang="ja-JP" dirty="0" smtClean="0"/>
              <a:t>)</a:t>
            </a:r>
            <a:endParaRPr kumimoji="1" lang="ja-JP" altLang="en-US" dirty="0"/>
          </a:p>
        </p:txBody>
      </p:sp>
      <p:cxnSp>
        <p:nvCxnSpPr>
          <p:cNvPr id="46" name="直線コネクタ 45"/>
          <p:cNvCxnSpPr/>
          <p:nvPr/>
        </p:nvCxnSpPr>
        <p:spPr>
          <a:xfrm>
            <a:off x="123825" y="3400425"/>
            <a:ext cx="117729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/>
          <p:cNvCxnSpPr/>
          <p:nvPr/>
        </p:nvCxnSpPr>
        <p:spPr>
          <a:xfrm>
            <a:off x="123825" y="5915025"/>
            <a:ext cx="117729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正方形/長方形 53"/>
          <p:cNvSpPr/>
          <p:nvPr/>
        </p:nvSpPr>
        <p:spPr>
          <a:xfrm>
            <a:off x="6445606" y="1343023"/>
            <a:ext cx="2315688" cy="39947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/>
              <a:t>暗号化</a:t>
            </a:r>
            <a:r>
              <a:rPr lang="en-US" altLang="ja-JP" dirty="0" smtClean="0"/>
              <a:t>/MAC</a:t>
            </a:r>
            <a:r>
              <a:rPr lang="ja-JP" altLang="en-US" dirty="0" smtClean="0"/>
              <a:t>付与</a:t>
            </a:r>
            <a:endParaRPr kumimoji="1" lang="ja-JP" altLang="en-US" dirty="0"/>
          </a:p>
        </p:txBody>
      </p:sp>
      <p:sp>
        <p:nvSpPr>
          <p:cNvPr id="60" name="正方形/長方形 59"/>
          <p:cNvSpPr/>
          <p:nvPr/>
        </p:nvSpPr>
        <p:spPr>
          <a:xfrm>
            <a:off x="1238250" y="355312"/>
            <a:ext cx="7150678" cy="5126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Renesas</a:t>
            </a:r>
            <a:r>
              <a:rPr lang="ja-JP" altLang="en-US" dirty="0" smtClean="0"/>
              <a:t> </a:t>
            </a:r>
            <a:r>
              <a:rPr lang="en-US" altLang="ja-JP" dirty="0" smtClean="0"/>
              <a:t>Device</a:t>
            </a:r>
            <a:r>
              <a:rPr lang="ja-JP" altLang="en-US" dirty="0" smtClean="0"/>
              <a:t> </a:t>
            </a:r>
            <a:r>
              <a:rPr lang="en-US" altLang="ja-JP" dirty="0" smtClean="0"/>
              <a:t>Lifecycle</a:t>
            </a:r>
            <a:r>
              <a:rPr lang="ja-JP" altLang="en-US" dirty="0" smtClean="0"/>
              <a:t> </a:t>
            </a:r>
            <a:r>
              <a:rPr lang="en-US" altLang="ja-JP" dirty="0" smtClean="0"/>
              <a:t>Management</a:t>
            </a:r>
            <a:r>
              <a:rPr lang="ja-JP" altLang="en-US" dirty="0" smtClean="0"/>
              <a:t>（</a:t>
            </a:r>
            <a:r>
              <a:rPr lang="en-US" altLang="ja-JP" dirty="0" smtClean="0"/>
              <a:t>DLM)</a:t>
            </a:r>
            <a:r>
              <a:rPr lang="ja-JP" altLang="en-US" dirty="0" smtClean="0"/>
              <a:t> </a:t>
            </a:r>
            <a:r>
              <a:rPr lang="en-US" altLang="ja-JP" dirty="0" smtClean="0"/>
              <a:t>Server</a:t>
            </a:r>
            <a:r>
              <a:rPr lang="ja-JP" altLang="en-US" dirty="0" smtClean="0"/>
              <a:t>内部で守られた</a:t>
            </a:r>
            <a:endParaRPr lang="en-US" altLang="ja-JP" dirty="0" smtClean="0"/>
          </a:p>
          <a:p>
            <a:pPr algn="ctr"/>
            <a:r>
              <a:rPr lang="en-US" altLang="ja-JP" dirty="0" smtClean="0"/>
              <a:t>HRK(Hidden Root Key)</a:t>
            </a:r>
            <a:endParaRPr kumimoji="1" lang="ja-JP" altLang="en-US" dirty="0"/>
          </a:p>
        </p:txBody>
      </p:sp>
      <p:sp>
        <p:nvSpPr>
          <p:cNvPr id="66" name="正方形/長方形 65"/>
          <p:cNvSpPr/>
          <p:nvPr/>
        </p:nvSpPr>
        <p:spPr>
          <a:xfrm>
            <a:off x="9016465" y="1343024"/>
            <a:ext cx="2804060" cy="399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/>
              <a:t>プロビジョニング鍵</a:t>
            </a:r>
            <a:r>
              <a:rPr lang="en-US" altLang="ja-JP" dirty="0" smtClean="0"/>
              <a:t>(</a:t>
            </a:r>
            <a:r>
              <a:rPr lang="ja-JP" altLang="en-US" dirty="0" smtClean="0"/>
              <a:t>暗号文</a:t>
            </a:r>
            <a:r>
              <a:rPr lang="en-US" altLang="ja-JP" dirty="0" smtClean="0"/>
              <a:t>)</a:t>
            </a:r>
            <a:endParaRPr kumimoji="1" lang="ja-JP" altLang="en-US" dirty="0"/>
          </a:p>
        </p:txBody>
      </p:sp>
      <p:cxnSp>
        <p:nvCxnSpPr>
          <p:cNvPr id="67" name="直線矢印コネクタ 66"/>
          <p:cNvCxnSpPr>
            <a:stCxn id="54" idx="3"/>
            <a:endCxn id="66" idx="1"/>
          </p:cNvCxnSpPr>
          <p:nvPr/>
        </p:nvCxnSpPr>
        <p:spPr>
          <a:xfrm>
            <a:off x="8761294" y="1542760"/>
            <a:ext cx="2551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/>
          <p:cNvCxnSpPr/>
          <p:nvPr/>
        </p:nvCxnSpPr>
        <p:spPr>
          <a:xfrm>
            <a:off x="123825" y="1895475"/>
            <a:ext cx="117729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カギ線コネクタ 95"/>
          <p:cNvCxnSpPr>
            <a:stCxn id="12" idx="3"/>
            <a:endCxn id="54" idx="1"/>
          </p:cNvCxnSpPr>
          <p:nvPr/>
        </p:nvCxnSpPr>
        <p:spPr>
          <a:xfrm flipV="1">
            <a:off x="5598103" y="1542760"/>
            <a:ext cx="847503" cy="619811"/>
          </a:xfrm>
          <a:prstGeom prst="bentConnector3">
            <a:avLst>
              <a:gd name="adj1" fmla="val 713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テキスト ボックス 98"/>
          <p:cNvSpPr txBox="1"/>
          <p:nvPr/>
        </p:nvSpPr>
        <p:spPr>
          <a:xfrm>
            <a:off x="0" y="1260914"/>
            <a:ext cx="62493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User</a:t>
            </a:r>
            <a:r>
              <a:rPr lang="ja-JP" altLang="en-US" dirty="0"/>
              <a:t> </a:t>
            </a:r>
            <a:r>
              <a:rPr lang="en-US" altLang="ja-JP" dirty="0"/>
              <a:t>Development</a:t>
            </a:r>
            <a:r>
              <a:rPr lang="ja-JP" altLang="en-US" dirty="0"/>
              <a:t> </a:t>
            </a:r>
            <a:r>
              <a:rPr lang="en-US" altLang="ja-JP" dirty="0" smtClean="0"/>
              <a:t>phase:</a:t>
            </a:r>
          </a:p>
          <a:p>
            <a:r>
              <a:rPr lang="en-US" altLang="ja-JP" dirty="0" smtClean="0"/>
              <a:t>(Assist Tool: Renesas</a:t>
            </a:r>
            <a:r>
              <a:rPr lang="ja-JP" altLang="en-US" dirty="0" smtClean="0"/>
              <a:t> </a:t>
            </a:r>
            <a:r>
              <a:rPr lang="en-US" altLang="ja-JP" dirty="0" smtClean="0"/>
              <a:t>Device</a:t>
            </a:r>
            <a:r>
              <a:rPr lang="ja-JP" altLang="en-US" dirty="0"/>
              <a:t> </a:t>
            </a:r>
            <a:r>
              <a:rPr lang="en-US" altLang="ja-JP" dirty="0" smtClean="0"/>
              <a:t>Lifecycle</a:t>
            </a:r>
            <a:r>
              <a:rPr lang="ja-JP" altLang="en-US" dirty="0"/>
              <a:t> </a:t>
            </a:r>
            <a:r>
              <a:rPr lang="en-US" altLang="ja-JP" dirty="0" smtClean="0"/>
              <a:t>Management(DLM)</a:t>
            </a:r>
            <a:r>
              <a:rPr lang="ja-JP" altLang="en-US" dirty="0" smtClean="0"/>
              <a:t> </a:t>
            </a:r>
            <a:r>
              <a:rPr lang="en-US" altLang="ja-JP" dirty="0" smtClean="0"/>
              <a:t>Server)</a:t>
            </a:r>
            <a:endParaRPr kumimoji="1" lang="ja-JP" altLang="en-US" dirty="0"/>
          </a:p>
        </p:txBody>
      </p:sp>
      <p:sp>
        <p:nvSpPr>
          <p:cNvPr id="133" name="テキスト ボックス 132"/>
          <p:cNvSpPr txBox="1"/>
          <p:nvPr/>
        </p:nvSpPr>
        <p:spPr>
          <a:xfrm>
            <a:off x="0" y="2849500"/>
            <a:ext cx="4624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User</a:t>
            </a:r>
            <a:r>
              <a:rPr lang="ja-JP" altLang="en-US" dirty="0" smtClean="0"/>
              <a:t> </a:t>
            </a:r>
            <a:r>
              <a:rPr lang="en-US" altLang="ja-JP" dirty="0" smtClean="0"/>
              <a:t>Development</a:t>
            </a:r>
            <a:r>
              <a:rPr lang="ja-JP" altLang="en-US" dirty="0" smtClean="0"/>
              <a:t> </a:t>
            </a:r>
            <a:r>
              <a:rPr lang="en-US" altLang="ja-JP" dirty="0" smtClean="0"/>
              <a:t>phase</a:t>
            </a:r>
          </a:p>
          <a:p>
            <a:r>
              <a:rPr lang="en-US" altLang="ja-JP" dirty="0" smtClean="0"/>
              <a:t>(Assist Tool: Renesas Secure Flash Programmer)</a:t>
            </a:r>
            <a:endParaRPr kumimoji="1" lang="ja-JP" altLang="en-US" dirty="0"/>
          </a:p>
        </p:txBody>
      </p:sp>
      <p:sp>
        <p:nvSpPr>
          <p:cNvPr id="134" name="テキスト ボックス 133"/>
          <p:cNvSpPr txBox="1"/>
          <p:nvPr/>
        </p:nvSpPr>
        <p:spPr>
          <a:xfrm>
            <a:off x="0" y="5545693"/>
            <a:ext cx="1360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User Factory</a:t>
            </a:r>
            <a:endParaRPr kumimoji="1" lang="ja-JP" altLang="en-US" dirty="0"/>
          </a:p>
        </p:txBody>
      </p:sp>
      <p:cxnSp>
        <p:nvCxnSpPr>
          <p:cNvPr id="135" name="直線コネクタ 134"/>
          <p:cNvCxnSpPr/>
          <p:nvPr/>
        </p:nvCxnSpPr>
        <p:spPr>
          <a:xfrm>
            <a:off x="123825" y="6772275"/>
            <a:ext cx="117729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テキスト ボックス 135"/>
          <p:cNvSpPr txBox="1"/>
          <p:nvPr/>
        </p:nvSpPr>
        <p:spPr>
          <a:xfrm>
            <a:off x="0" y="6488668"/>
            <a:ext cx="1336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User System</a:t>
            </a:r>
            <a:endParaRPr kumimoji="1" lang="ja-JP" altLang="en-US" dirty="0"/>
          </a:p>
        </p:txBody>
      </p:sp>
      <p:sp>
        <p:nvSpPr>
          <p:cNvPr id="144" name="正方形/長方形 143"/>
          <p:cNvSpPr/>
          <p:nvPr/>
        </p:nvSpPr>
        <p:spPr>
          <a:xfrm>
            <a:off x="1360372" y="3644540"/>
            <a:ext cx="7656093" cy="220560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ja-JP" dirty="0" smtClean="0"/>
          </a:p>
          <a:p>
            <a:pPr algn="r"/>
            <a:endParaRPr lang="en-US" altLang="ja-JP" dirty="0"/>
          </a:p>
          <a:p>
            <a:pPr algn="r"/>
            <a:endParaRPr lang="en-US" altLang="ja-JP" dirty="0" smtClean="0"/>
          </a:p>
          <a:p>
            <a:pPr algn="r"/>
            <a:endParaRPr lang="en-US" altLang="ja-JP" dirty="0"/>
          </a:p>
          <a:p>
            <a:pPr algn="r"/>
            <a:endParaRPr lang="en-US" altLang="ja-JP" dirty="0" smtClean="0"/>
          </a:p>
          <a:p>
            <a:pPr algn="r"/>
            <a:endParaRPr lang="en-US" altLang="ja-JP" dirty="0"/>
          </a:p>
          <a:p>
            <a:pPr algn="r"/>
            <a:endParaRPr lang="en-US" altLang="ja-JP" dirty="0" smtClean="0"/>
          </a:p>
          <a:p>
            <a:pPr algn="r"/>
            <a:endParaRPr lang="en-US" altLang="ja-JP" dirty="0" smtClean="0"/>
          </a:p>
          <a:p>
            <a:pPr algn="r"/>
            <a:endParaRPr lang="en-US" altLang="ja-JP" dirty="0"/>
          </a:p>
          <a:p>
            <a:pPr algn="r"/>
            <a:r>
              <a:rPr lang="ja-JP" altLang="en-US" dirty="0" smtClean="0"/>
              <a:t>ユーザ鍵インストール</a:t>
            </a:r>
            <a:r>
              <a:rPr lang="en-US" altLang="ja-JP" dirty="0" smtClean="0"/>
              <a:t>API</a:t>
            </a:r>
          </a:p>
          <a:p>
            <a:pPr algn="ctr"/>
            <a:endParaRPr kumimoji="1" lang="en-US" altLang="ja-JP" dirty="0"/>
          </a:p>
          <a:p>
            <a:pPr algn="ctr"/>
            <a:endParaRPr kumimoji="1" lang="ja-JP" altLang="en-US" dirty="0"/>
          </a:p>
        </p:txBody>
      </p:sp>
      <p:cxnSp>
        <p:nvCxnSpPr>
          <p:cNvPr id="145" name="カギ線コネクタ 144"/>
          <p:cNvCxnSpPr/>
          <p:nvPr/>
        </p:nvCxnSpPr>
        <p:spPr>
          <a:xfrm flipH="1">
            <a:off x="3049333" y="2869909"/>
            <a:ext cx="5345189" cy="2408022"/>
          </a:xfrm>
          <a:prstGeom prst="bentConnector5">
            <a:avLst>
              <a:gd name="adj1" fmla="val -4277"/>
              <a:gd name="adj2" fmla="val 28893"/>
              <a:gd name="adj3" fmla="val 10242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カギ線コネクタ 147"/>
          <p:cNvCxnSpPr>
            <a:stCxn id="66" idx="3"/>
            <a:endCxn id="70" idx="1"/>
          </p:cNvCxnSpPr>
          <p:nvPr/>
        </p:nvCxnSpPr>
        <p:spPr>
          <a:xfrm flipH="1">
            <a:off x="1419738" y="1542761"/>
            <a:ext cx="10400787" cy="3730476"/>
          </a:xfrm>
          <a:prstGeom prst="bentConnector5">
            <a:avLst>
              <a:gd name="adj1" fmla="val -2198"/>
              <a:gd name="adj2" fmla="val 52117"/>
              <a:gd name="adj3" fmla="val 1021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正方形/長方形 159"/>
          <p:cNvSpPr/>
          <p:nvPr/>
        </p:nvSpPr>
        <p:spPr>
          <a:xfrm>
            <a:off x="4502687" y="3704877"/>
            <a:ext cx="4463877" cy="512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RX72N</a:t>
            </a:r>
            <a:r>
              <a:rPr lang="ja-JP" altLang="en-US" dirty="0" smtClean="0"/>
              <a:t>内蔵</a:t>
            </a:r>
            <a:r>
              <a:rPr lang="en-US" altLang="ja-JP" dirty="0" smtClean="0"/>
              <a:t>Trusted</a:t>
            </a:r>
            <a:r>
              <a:rPr lang="ja-JP" altLang="en-US" dirty="0" smtClean="0"/>
              <a:t> </a:t>
            </a:r>
            <a:r>
              <a:rPr lang="en-US" altLang="ja-JP" dirty="0" smtClean="0"/>
              <a:t>Secure</a:t>
            </a:r>
            <a:r>
              <a:rPr lang="ja-JP" altLang="en-US" dirty="0" smtClean="0"/>
              <a:t> </a:t>
            </a:r>
            <a:r>
              <a:rPr lang="en-US" altLang="ja-JP" dirty="0" smtClean="0"/>
              <a:t>IP</a:t>
            </a:r>
            <a:r>
              <a:rPr lang="ja-JP" altLang="en-US" dirty="0" smtClean="0"/>
              <a:t>内部で守られた</a:t>
            </a:r>
            <a:r>
              <a:rPr lang="en-US" altLang="ja-JP" dirty="0" smtClean="0"/>
              <a:t>HRK(Hidden Root Key)</a:t>
            </a:r>
            <a:endParaRPr kumimoji="1" lang="ja-JP" altLang="en-US" dirty="0"/>
          </a:p>
        </p:txBody>
      </p:sp>
      <p:sp>
        <p:nvSpPr>
          <p:cNvPr id="163" name="正方形/長方形 162"/>
          <p:cNvSpPr/>
          <p:nvPr/>
        </p:nvSpPr>
        <p:spPr>
          <a:xfrm>
            <a:off x="9504837" y="4800366"/>
            <a:ext cx="2315688" cy="6009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/>
              <a:t>ユーザ鍵生成情報</a:t>
            </a:r>
            <a:endParaRPr lang="en-US" altLang="ja-JP" dirty="0" smtClean="0"/>
          </a:p>
          <a:p>
            <a:pPr algn="ctr"/>
            <a:r>
              <a:rPr lang="en-US" altLang="ja-JP" dirty="0" smtClean="0"/>
              <a:t>(</a:t>
            </a:r>
            <a:r>
              <a:rPr lang="ja-JP" altLang="en-US" dirty="0" smtClean="0"/>
              <a:t>暗号文</a:t>
            </a:r>
            <a:r>
              <a:rPr lang="en-US" altLang="ja-JP" dirty="0" smtClean="0"/>
              <a:t>)</a:t>
            </a:r>
            <a:endParaRPr kumimoji="1" lang="ja-JP" altLang="en-US" dirty="0"/>
          </a:p>
        </p:txBody>
      </p:sp>
      <p:sp>
        <p:nvSpPr>
          <p:cNvPr id="171" name="正方形/長方形 170"/>
          <p:cNvSpPr/>
          <p:nvPr/>
        </p:nvSpPr>
        <p:spPr>
          <a:xfrm>
            <a:off x="4525983" y="6165850"/>
            <a:ext cx="2619375" cy="39947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AES/RSA/ECC</a:t>
            </a:r>
            <a:r>
              <a:rPr lang="ja-JP" altLang="en-US" dirty="0" smtClean="0"/>
              <a:t>等の暗号化</a:t>
            </a:r>
            <a:endParaRPr kumimoji="1" lang="ja-JP" altLang="en-US" dirty="0"/>
          </a:p>
        </p:txBody>
      </p:sp>
      <p:cxnSp>
        <p:nvCxnSpPr>
          <p:cNvPr id="172" name="カギ線コネクタ 171"/>
          <p:cNvCxnSpPr>
            <a:stCxn id="163" idx="2"/>
            <a:endCxn id="171" idx="0"/>
          </p:cNvCxnSpPr>
          <p:nvPr/>
        </p:nvCxnSpPr>
        <p:spPr>
          <a:xfrm rot="5400000">
            <a:off x="7866905" y="3370073"/>
            <a:ext cx="764543" cy="4827010"/>
          </a:xfrm>
          <a:prstGeom prst="bentConnector3">
            <a:avLst>
              <a:gd name="adj1" fmla="val 811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正方形/長方形 176"/>
          <p:cNvSpPr/>
          <p:nvPr/>
        </p:nvSpPr>
        <p:spPr>
          <a:xfrm>
            <a:off x="1569384" y="6159139"/>
            <a:ext cx="2315688" cy="399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/>
              <a:t>システムデータ</a:t>
            </a:r>
            <a:r>
              <a:rPr lang="en-US" altLang="ja-JP" dirty="0" smtClean="0"/>
              <a:t>(</a:t>
            </a:r>
            <a:r>
              <a:rPr lang="ja-JP" altLang="en-US" dirty="0" smtClean="0"/>
              <a:t>平文</a:t>
            </a:r>
            <a:r>
              <a:rPr lang="en-US" altLang="ja-JP" dirty="0" smtClean="0"/>
              <a:t>)</a:t>
            </a:r>
            <a:endParaRPr kumimoji="1" lang="ja-JP" altLang="en-US" dirty="0"/>
          </a:p>
        </p:txBody>
      </p:sp>
      <p:sp>
        <p:nvSpPr>
          <p:cNvPr id="178" name="正方形/長方形 177"/>
          <p:cNvSpPr/>
          <p:nvPr/>
        </p:nvSpPr>
        <p:spPr>
          <a:xfrm>
            <a:off x="7786268" y="6159139"/>
            <a:ext cx="2548231" cy="399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/>
              <a:t>システムデータ</a:t>
            </a:r>
            <a:r>
              <a:rPr lang="en-US" altLang="ja-JP" dirty="0" smtClean="0"/>
              <a:t>(</a:t>
            </a:r>
            <a:r>
              <a:rPr lang="ja-JP" altLang="en-US" dirty="0" smtClean="0"/>
              <a:t>暗号文</a:t>
            </a:r>
            <a:r>
              <a:rPr lang="en-US" altLang="ja-JP" dirty="0" smtClean="0"/>
              <a:t>)</a:t>
            </a:r>
            <a:endParaRPr kumimoji="1" lang="ja-JP" altLang="en-US" dirty="0"/>
          </a:p>
        </p:txBody>
      </p:sp>
      <p:cxnSp>
        <p:nvCxnSpPr>
          <p:cNvPr id="179" name="直線矢印コネクタ 178"/>
          <p:cNvCxnSpPr>
            <a:stCxn id="177" idx="3"/>
            <a:endCxn id="171" idx="1"/>
          </p:cNvCxnSpPr>
          <p:nvPr/>
        </p:nvCxnSpPr>
        <p:spPr>
          <a:xfrm>
            <a:off x="3885072" y="6358876"/>
            <a:ext cx="640911" cy="6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線矢印コネクタ 181"/>
          <p:cNvCxnSpPr>
            <a:stCxn id="171" idx="3"/>
            <a:endCxn id="178" idx="1"/>
          </p:cNvCxnSpPr>
          <p:nvPr/>
        </p:nvCxnSpPr>
        <p:spPr>
          <a:xfrm flipV="1">
            <a:off x="7145358" y="6358876"/>
            <a:ext cx="640910" cy="6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テキスト ボックス 184"/>
          <p:cNvSpPr txBox="1"/>
          <p:nvPr/>
        </p:nvSpPr>
        <p:spPr>
          <a:xfrm>
            <a:off x="10436246" y="1705736"/>
            <a:ext cx="161775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 smtClean="0"/>
              <a:t>(User System</a:t>
            </a:r>
            <a:r>
              <a:rPr kumimoji="1" lang="ja-JP" altLang="en-US" sz="1050" dirty="0" smtClean="0"/>
              <a:t>上存在禁止</a:t>
            </a:r>
            <a:r>
              <a:rPr kumimoji="1" lang="en-US" altLang="ja-JP" sz="1050" dirty="0" smtClean="0"/>
              <a:t>)</a:t>
            </a:r>
            <a:endParaRPr kumimoji="1" lang="ja-JP" altLang="en-US" sz="1050" dirty="0"/>
          </a:p>
        </p:txBody>
      </p:sp>
      <p:sp>
        <p:nvSpPr>
          <p:cNvPr id="197" name="正方形/長方形 196"/>
          <p:cNvSpPr/>
          <p:nvPr/>
        </p:nvSpPr>
        <p:spPr>
          <a:xfrm>
            <a:off x="5274224" y="4355734"/>
            <a:ext cx="1258562" cy="5120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/>
              <a:t>チップ</a:t>
            </a:r>
            <a:endParaRPr lang="en-US" altLang="ja-JP" dirty="0" smtClean="0"/>
          </a:p>
          <a:p>
            <a:pPr algn="ctr"/>
            <a:r>
              <a:rPr lang="ja-JP" altLang="en-US" dirty="0" smtClean="0"/>
              <a:t>ユニーク</a:t>
            </a:r>
            <a:r>
              <a:rPr lang="en-US" altLang="ja-JP" dirty="0" smtClean="0"/>
              <a:t>ID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/>
        </p:nvSpPr>
        <p:spPr>
          <a:xfrm>
            <a:off x="10004510" y="752629"/>
            <a:ext cx="768349" cy="30165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dirty="0" smtClean="0"/>
              <a:t>処理</a:t>
            </a:r>
            <a:endParaRPr kumimoji="1" lang="ja-JP" altLang="en-US" sz="1050" dirty="0"/>
          </a:p>
        </p:txBody>
      </p:sp>
      <p:sp>
        <p:nvSpPr>
          <p:cNvPr id="43" name="正方形/長方形 42"/>
          <p:cNvSpPr/>
          <p:nvPr/>
        </p:nvSpPr>
        <p:spPr>
          <a:xfrm>
            <a:off x="8818669" y="752629"/>
            <a:ext cx="916519" cy="298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dirty="0" smtClean="0"/>
              <a:t>処理対象①</a:t>
            </a:r>
            <a:r>
              <a:rPr lang="en-US" altLang="ja-JP" sz="1050" dirty="0" smtClean="0"/>
              <a:t>(</a:t>
            </a:r>
            <a:r>
              <a:rPr lang="ja-JP" altLang="en-US" sz="1050" dirty="0" smtClean="0"/>
              <a:t>入力</a:t>
            </a:r>
            <a:r>
              <a:rPr lang="en-US" altLang="ja-JP" sz="1050" dirty="0" smtClean="0"/>
              <a:t>)</a:t>
            </a:r>
            <a:endParaRPr kumimoji="1" lang="ja-JP" altLang="en-US" sz="1050" dirty="0"/>
          </a:p>
        </p:txBody>
      </p:sp>
      <p:sp>
        <p:nvSpPr>
          <p:cNvPr id="44" name="正方形/長方形 43"/>
          <p:cNvSpPr/>
          <p:nvPr/>
        </p:nvSpPr>
        <p:spPr>
          <a:xfrm>
            <a:off x="9966410" y="262245"/>
            <a:ext cx="853990" cy="298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dirty="0" smtClean="0"/>
              <a:t>処理対象②</a:t>
            </a:r>
            <a:r>
              <a:rPr lang="en-US" altLang="ja-JP" sz="1050" dirty="0" smtClean="0"/>
              <a:t>(</a:t>
            </a:r>
            <a:r>
              <a:rPr lang="ja-JP" altLang="en-US" sz="1050" dirty="0" smtClean="0"/>
              <a:t>入力</a:t>
            </a:r>
            <a:r>
              <a:rPr lang="en-US" altLang="ja-JP" sz="1050" dirty="0" smtClean="0"/>
              <a:t>)</a:t>
            </a:r>
            <a:endParaRPr kumimoji="1" lang="ja-JP" altLang="en-US" sz="1050" dirty="0"/>
          </a:p>
        </p:txBody>
      </p:sp>
      <p:sp>
        <p:nvSpPr>
          <p:cNvPr id="45" name="正方形/長方形 44"/>
          <p:cNvSpPr/>
          <p:nvPr/>
        </p:nvSpPr>
        <p:spPr>
          <a:xfrm>
            <a:off x="11052176" y="752629"/>
            <a:ext cx="768349" cy="298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dirty="0" smtClean="0"/>
              <a:t>処理結果</a:t>
            </a:r>
            <a:r>
              <a:rPr lang="en-US" altLang="ja-JP" sz="1050" dirty="0" smtClean="0"/>
              <a:t>(</a:t>
            </a:r>
            <a:r>
              <a:rPr lang="ja-JP" altLang="en-US" sz="1050" dirty="0"/>
              <a:t>出力</a:t>
            </a:r>
            <a:r>
              <a:rPr lang="en-US" altLang="ja-JP" sz="1050" dirty="0" smtClean="0"/>
              <a:t>)</a:t>
            </a:r>
            <a:endParaRPr kumimoji="1" lang="ja-JP" altLang="en-US" sz="1050" dirty="0"/>
          </a:p>
        </p:txBody>
      </p:sp>
      <p:cxnSp>
        <p:nvCxnSpPr>
          <p:cNvPr id="9" name="直線矢印コネクタ 8"/>
          <p:cNvCxnSpPr>
            <a:stCxn id="43" idx="3"/>
            <a:endCxn id="41" idx="1"/>
          </p:cNvCxnSpPr>
          <p:nvPr/>
        </p:nvCxnSpPr>
        <p:spPr>
          <a:xfrm>
            <a:off x="9735188" y="901941"/>
            <a:ext cx="269322" cy="1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/>
          <p:cNvCxnSpPr>
            <a:stCxn id="41" idx="3"/>
            <a:endCxn id="45" idx="1"/>
          </p:cNvCxnSpPr>
          <p:nvPr/>
        </p:nvCxnSpPr>
        <p:spPr>
          <a:xfrm flipV="1">
            <a:off x="10772859" y="901941"/>
            <a:ext cx="279317" cy="1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/>
          <p:cNvCxnSpPr>
            <a:stCxn id="44" idx="2"/>
            <a:endCxn id="41" idx="0"/>
          </p:cNvCxnSpPr>
          <p:nvPr/>
        </p:nvCxnSpPr>
        <p:spPr>
          <a:xfrm flipH="1">
            <a:off x="10388685" y="560868"/>
            <a:ext cx="4720" cy="191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/>
          <p:cNvSpPr/>
          <p:nvPr/>
        </p:nvSpPr>
        <p:spPr>
          <a:xfrm>
            <a:off x="8801100" y="142875"/>
            <a:ext cx="3252897" cy="10777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8756474" y="11620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凡例</a:t>
            </a:r>
            <a:endParaRPr kumimoji="1" lang="ja-JP" altLang="en-US" dirty="0"/>
          </a:p>
        </p:txBody>
      </p:sp>
      <p:sp>
        <p:nvSpPr>
          <p:cNvPr id="69" name="正方形/長方形 68"/>
          <p:cNvSpPr/>
          <p:nvPr/>
        </p:nvSpPr>
        <p:spPr>
          <a:xfrm>
            <a:off x="3043739" y="5000780"/>
            <a:ext cx="1202780" cy="55430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/>
              <a:t>復号</a:t>
            </a:r>
            <a:r>
              <a:rPr lang="en-US" altLang="ja-JP" dirty="0" smtClean="0"/>
              <a:t>/</a:t>
            </a:r>
          </a:p>
          <a:p>
            <a:pPr algn="ctr"/>
            <a:r>
              <a:rPr lang="en-US" altLang="ja-JP" dirty="0" smtClean="0"/>
              <a:t>MAC</a:t>
            </a:r>
            <a:r>
              <a:rPr lang="ja-JP" altLang="en-US" dirty="0"/>
              <a:t>検証</a:t>
            </a:r>
            <a:endParaRPr lang="en-US" altLang="ja-JP" dirty="0"/>
          </a:p>
        </p:txBody>
      </p:sp>
      <p:sp>
        <p:nvSpPr>
          <p:cNvPr id="70" name="正方形/長方形 69"/>
          <p:cNvSpPr/>
          <p:nvPr/>
        </p:nvSpPr>
        <p:spPr>
          <a:xfrm>
            <a:off x="1419738" y="5000780"/>
            <a:ext cx="1307490" cy="54491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dirty="0" smtClean="0"/>
          </a:p>
          <a:p>
            <a:pPr algn="ctr"/>
            <a:r>
              <a:rPr lang="ja-JP" altLang="en-US" dirty="0" smtClean="0"/>
              <a:t>復号</a:t>
            </a:r>
            <a:r>
              <a:rPr lang="en-US" altLang="ja-JP" dirty="0" smtClean="0"/>
              <a:t>/</a:t>
            </a:r>
          </a:p>
          <a:p>
            <a:pPr algn="ctr"/>
            <a:r>
              <a:rPr lang="en-US" altLang="ja-JP" dirty="0" smtClean="0"/>
              <a:t>MAC</a:t>
            </a:r>
            <a:r>
              <a:rPr lang="ja-JP" altLang="en-US" dirty="0" smtClean="0"/>
              <a:t>検証</a:t>
            </a:r>
            <a:endParaRPr kumimoji="1"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71" name="正方形/長方形 70"/>
          <p:cNvSpPr/>
          <p:nvPr/>
        </p:nvSpPr>
        <p:spPr>
          <a:xfrm>
            <a:off x="7288797" y="4994618"/>
            <a:ext cx="1216867" cy="55107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/>
              <a:t>暗号化</a:t>
            </a:r>
            <a:r>
              <a:rPr lang="en-US" altLang="ja-JP" dirty="0" smtClean="0"/>
              <a:t>/</a:t>
            </a:r>
          </a:p>
          <a:p>
            <a:pPr algn="ctr"/>
            <a:r>
              <a:rPr lang="en-US" altLang="ja-JP" dirty="0" smtClean="0"/>
              <a:t>MAC</a:t>
            </a:r>
            <a:r>
              <a:rPr lang="ja-JP" altLang="en-US" dirty="0" smtClean="0"/>
              <a:t>付与</a:t>
            </a:r>
            <a:endParaRPr kumimoji="1" lang="ja-JP" altLang="en-US" dirty="0"/>
          </a:p>
        </p:txBody>
      </p:sp>
      <p:cxnSp>
        <p:nvCxnSpPr>
          <p:cNvPr id="52" name="カギ線コネクタ 51"/>
          <p:cNvCxnSpPr>
            <a:stCxn id="60" idx="2"/>
            <a:endCxn id="54" idx="0"/>
          </p:cNvCxnSpPr>
          <p:nvPr/>
        </p:nvCxnSpPr>
        <p:spPr>
          <a:xfrm rot="16200000" flipH="1">
            <a:off x="5970971" y="-289457"/>
            <a:ext cx="475097" cy="27898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カギ線コネクタ 62"/>
          <p:cNvCxnSpPr>
            <a:stCxn id="160" idx="2"/>
            <a:endCxn id="70" idx="0"/>
          </p:cNvCxnSpPr>
          <p:nvPr/>
        </p:nvCxnSpPr>
        <p:spPr>
          <a:xfrm rot="5400000">
            <a:off x="4012114" y="2278268"/>
            <a:ext cx="783882" cy="4661143"/>
          </a:xfrm>
          <a:prstGeom prst="bentConnector3">
            <a:avLst>
              <a:gd name="adj1" fmla="val 691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カギ線コネクタ 67"/>
          <p:cNvCxnSpPr>
            <a:stCxn id="70" idx="3"/>
            <a:endCxn id="69" idx="0"/>
          </p:cNvCxnSpPr>
          <p:nvPr/>
        </p:nvCxnSpPr>
        <p:spPr>
          <a:xfrm flipV="1">
            <a:off x="2727228" y="5000780"/>
            <a:ext cx="917901" cy="272457"/>
          </a:xfrm>
          <a:prstGeom prst="bentConnector4">
            <a:avLst>
              <a:gd name="adj1" fmla="val 11856"/>
              <a:gd name="adj2" fmla="val 1899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正方形/長方形 101"/>
          <p:cNvSpPr/>
          <p:nvPr/>
        </p:nvSpPr>
        <p:spPr>
          <a:xfrm>
            <a:off x="4630060" y="5085407"/>
            <a:ext cx="814284" cy="37735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/>
              <a:t>結合</a:t>
            </a:r>
            <a:endParaRPr kumimoji="1" lang="ja-JP" altLang="en-US" dirty="0"/>
          </a:p>
        </p:txBody>
      </p:sp>
      <p:sp>
        <p:nvSpPr>
          <p:cNvPr id="109" name="正方形/長方形 108"/>
          <p:cNvSpPr/>
          <p:nvPr/>
        </p:nvSpPr>
        <p:spPr>
          <a:xfrm>
            <a:off x="4035887" y="4352061"/>
            <a:ext cx="1145501" cy="524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/>
              <a:t>乱数成分</a:t>
            </a:r>
            <a:endParaRPr kumimoji="1" lang="ja-JP" altLang="en-US" dirty="0"/>
          </a:p>
        </p:txBody>
      </p:sp>
      <p:sp>
        <p:nvSpPr>
          <p:cNvPr id="110" name="正方形/長方形 109"/>
          <p:cNvSpPr/>
          <p:nvPr/>
        </p:nvSpPr>
        <p:spPr>
          <a:xfrm>
            <a:off x="5801576" y="5085407"/>
            <a:ext cx="814284" cy="37735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/>
              <a:t>結合</a:t>
            </a:r>
            <a:endParaRPr kumimoji="1" lang="ja-JP" altLang="en-US" dirty="0"/>
          </a:p>
        </p:txBody>
      </p:sp>
      <p:cxnSp>
        <p:nvCxnSpPr>
          <p:cNvPr id="93" name="カギ線コネクタ 92"/>
          <p:cNvCxnSpPr>
            <a:stCxn id="69" idx="3"/>
            <a:endCxn id="102" idx="1"/>
          </p:cNvCxnSpPr>
          <p:nvPr/>
        </p:nvCxnSpPr>
        <p:spPr>
          <a:xfrm flipV="1">
            <a:off x="4246519" y="5274086"/>
            <a:ext cx="383541" cy="384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カギ線コネクタ 94"/>
          <p:cNvCxnSpPr>
            <a:stCxn id="109" idx="2"/>
            <a:endCxn id="102" idx="0"/>
          </p:cNvCxnSpPr>
          <p:nvPr/>
        </p:nvCxnSpPr>
        <p:spPr>
          <a:xfrm rot="16200000" flipH="1">
            <a:off x="4718617" y="4766821"/>
            <a:ext cx="208607" cy="42856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カギ線コネクタ 97"/>
          <p:cNvCxnSpPr>
            <a:stCxn id="197" idx="2"/>
            <a:endCxn id="110" idx="0"/>
          </p:cNvCxnSpPr>
          <p:nvPr/>
        </p:nvCxnSpPr>
        <p:spPr>
          <a:xfrm rot="16200000" flipH="1">
            <a:off x="5947285" y="4823974"/>
            <a:ext cx="217652" cy="3052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カギ線コネクタ 100"/>
          <p:cNvCxnSpPr>
            <a:stCxn id="102" idx="3"/>
            <a:endCxn id="110" idx="1"/>
          </p:cNvCxnSpPr>
          <p:nvPr/>
        </p:nvCxnSpPr>
        <p:spPr>
          <a:xfrm>
            <a:off x="5444344" y="5274086"/>
            <a:ext cx="35723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カギ線コネクタ 105"/>
          <p:cNvCxnSpPr>
            <a:stCxn id="110" idx="3"/>
            <a:endCxn id="71" idx="1"/>
          </p:cNvCxnSpPr>
          <p:nvPr/>
        </p:nvCxnSpPr>
        <p:spPr>
          <a:xfrm flipV="1">
            <a:off x="6615860" y="5270156"/>
            <a:ext cx="672937" cy="393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カギ線コネクタ 114"/>
          <p:cNvCxnSpPr>
            <a:stCxn id="160" idx="2"/>
            <a:endCxn id="71" idx="0"/>
          </p:cNvCxnSpPr>
          <p:nvPr/>
        </p:nvCxnSpPr>
        <p:spPr>
          <a:xfrm rot="16200000" flipH="1">
            <a:off x="6927068" y="4024455"/>
            <a:ext cx="777720" cy="1162605"/>
          </a:xfrm>
          <a:prstGeom prst="bentConnector3">
            <a:avLst>
              <a:gd name="adj1" fmla="val 763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カギ線コネクタ 116"/>
          <p:cNvCxnSpPr>
            <a:stCxn id="71" idx="3"/>
            <a:endCxn id="163" idx="1"/>
          </p:cNvCxnSpPr>
          <p:nvPr/>
        </p:nvCxnSpPr>
        <p:spPr>
          <a:xfrm flipV="1">
            <a:off x="8505664" y="5100837"/>
            <a:ext cx="999173" cy="169319"/>
          </a:xfrm>
          <a:prstGeom prst="bentConnector3">
            <a:avLst>
              <a:gd name="adj1" fmla="val 3103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テキスト ボックス 126"/>
          <p:cNvSpPr txBox="1"/>
          <p:nvPr/>
        </p:nvSpPr>
        <p:spPr>
          <a:xfrm>
            <a:off x="10789861" y="262245"/>
            <a:ext cx="13708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" dirty="0" smtClean="0"/>
              <a:t>処理</a:t>
            </a:r>
            <a:r>
              <a:rPr lang="en-US" altLang="ja-JP" sz="800" dirty="0" smtClean="0"/>
              <a:t>=</a:t>
            </a:r>
            <a:r>
              <a:rPr lang="ja-JP" altLang="en-US" sz="800" dirty="0" smtClean="0"/>
              <a:t>暗号化</a:t>
            </a:r>
            <a:r>
              <a:rPr lang="en-US" altLang="ja-JP" sz="800" dirty="0" smtClean="0"/>
              <a:t>/</a:t>
            </a:r>
            <a:r>
              <a:rPr lang="ja-JP" altLang="en-US" sz="800" dirty="0" smtClean="0"/>
              <a:t>復号の場合、</a:t>
            </a:r>
            <a:endParaRPr lang="en-US" altLang="ja-JP" sz="800" dirty="0" smtClean="0"/>
          </a:p>
          <a:p>
            <a:r>
              <a:rPr kumimoji="1" lang="ja-JP" altLang="en-US" sz="800" dirty="0" smtClean="0"/>
              <a:t>処理対象②は鍵データ</a:t>
            </a:r>
            <a:endParaRPr kumimoji="1" lang="ja-JP" altLang="en-US" sz="800" dirty="0"/>
          </a:p>
        </p:txBody>
      </p:sp>
      <p:cxnSp>
        <p:nvCxnSpPr>
          <p:cNvPr id="5" name="カギ線コネクタ 4"/>
          <p:cNvCxnSpPr>
            <a:stCxn id="4" idx="3"/>
          </p:cNvCxnSpPr>
          <p:nvPr/>
        </p:nvCxnSpPr>
        <p:spPr>
          <a:xfrm>
            <a:off x="2475728" y="2623696"/>
            <a:ext cx="503000" cy="2462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387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175</Words>
  <Application>Microsoft Office PowerPoint</Application>
  <PresentationFormat>ワイド画面</PresentationFormat>
  <Paragraphs>50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ＭＳ Ｐゴシック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Shelty</dc:creator>
  <cp:lastModifiedBy>Shelty</cp:lastModifiedBy>
  <cp:revision>10</cp:revision>
  <dcterms:created xsi:type="dcterms:W3CDTF">2020-07-23T10:14:44Z</dcterms:created>
  <dcterms:modified xsi:type="dcterms:W3CDTF">2020-07-23T15:57:13Z</dcterms:modified>
</cp:coreProperties>
</file>